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B0B31E-5473-4991-B4C7-CBC5028D21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020040-0363-4B64-93B4-89C22B1B98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7C1AE12-EB73-4668-BAD0-D936466937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CCF5E85-BB38-4036-BE78-28A6DF42E0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71F541B-C681-480F-A409-06EC2BB832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E7E8FBA-A057-498D-8C49-526E7AB1A5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46FFB47-8542-4FA6-A628-286054756A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648C1C6-30AD-4A11-A8A5-5C54229C3B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8E0CAA4-EC9C-48FD-8F1E-7E54348DEB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B4A9858-6AF3-4B56-9557-DACCA9FD7D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6B5291D-1FA4-4309-AE9D-597AA48EED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6378AF0-625B-4CA3-B5C9-2AB1A76CD7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831FBF2-762F-40EE-A565-570367D223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A8B639-8FDF-417D-BD34-B49956D89E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C0BABC-A315-4C52-9B74-F0D225FBCB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23680A-C8BE-45A5-9C2E-7E588F015F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381A49-7C9C-4109-B43D-9DAEEC19B8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EBF71E-36FF-4608-A50E-6F60332C9E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33D9D9-1F15-43C4-92DE-4CB6C5A2F8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C001FA4-D80F-4B7D-AE00-F32B1F12DF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7DE910-D360-419C-B8F6-1F6A71D16D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8648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EB5AB68-3CA9-4314-AB6F-37DFF612EF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24720" cy="35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2617200" y="320040"/>
            <a:ext cx="6924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Прогнозирование качества воздуха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502920" y="1130400"/>
            <a:ext cx="11055240" cy="46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1" lang="en-US" sz="2000" spc="-1" strike="noStrike">
                <a:solidFill>
                  <a:srgbClr val="1e293b"/>
                </a:solidFill>
                <a:latin typeface="Calibri"/>
              </a:rPr>
              <a:t>Постановка задачи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Разработка сервиса для получения помесячного прогноза индекса качества воздуха (AQI) и сопутствующих показателей загрязнения на горизонте до двенадцати месяцев.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499"/>
              </a:spcAft>
            </a:pPr>
            <a:r>
              <a:rPr b="1" lang="en-US" sz="2000" spc="-1" strike="noStrike">
                <a:solidFill>
                  <a:srgbClr val="1e293b"/>
                </a:solidFill>
                <a:latin typeface="Calibri"/>
              </a:rPr>
              <a:t>Исходные данные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Используется открытый датасет World Air Pollution and AQI Dataset 2014–2025 (платформа Kaggle).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Наблюдения представлены с помесячной дискретизацией по городам различных стран.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499"/>
              </a:spcAft>
            </a:pPr>
            <a:r>
              <a:rPr b="1" lang="en-US" sz="2000" spc="-1" strike="noStrike">
                <a:solidFill>
                  <a:srgbClr val="1e293b"/>
                </a:solidFill>
                <a:latin typeface="Calibri"/>
              </a:rPr>
              <a:t>Актуальность и цель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Уровень загрязнения атмосферы существенно различается по регионам и сезонам; единая модель для всех территорий не обеспечивает достаточной точности.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Цель проекта — сегментация городов по экологическому профилю, построение прогнозных моделей по сегментам и предоставление результатов через веб-интерфейс.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2275920" y="6144840"/>
            <a:ext cx="7424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Источник данных: https://www.kaggle.com/datasets/ashyou09/world-air-pollution-and-aqi-dataset-20142025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2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3893760" y="320040"/>
            <a:ext cx="4370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Задачи и применения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8"/>
          <p:cNvSpPr/>
          <p:nvPr/>
        </p:nvSpPr>
        <p:spPr>
          <a:xfrm>
            <a:off x="502920" y="914400"/>
            <a:ext cx="11055240" cy="41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499"/>
              </a:spcAft>
            </a:pPr>
            <a:r>
              <a:rPr b="1" lang="en-US" sz="2000" spc="-1" strike="noStrike">
                <a:solidFill>
                  <a:srgbClr val="1e293b"/>
                </a:solidFill>
                <a:latin typeface="Calibri"/>
              </a:rPr>
              <a:t>Решаемые задачи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 u="sng">
                <a:solidFill>
                  <a:srgbClr val="1e293b"/>
                </a:solidFill>
                <a:uFillTx/>
                <a:latin typeface="Calibri"/>
              </a:rPr>
              <a:t>Информирование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о возможной динамике качества воздуха в среднесрочной перспективе.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Предоставление унифицированного доступа к результатам прогноза через </a:t>
            </a:r>
            <a:r>
              <a:rPr b="0" lang="en-US" sz="1600" spc="-1" strike="noStrike" u="sng">
                <a:solidFill>
                  <a:srgbClr val="1e293b"/>
                </a:solidFill>
                <a:uFillTx/>
                <a:latin typeface="Calibri"/>
              </a:rPr>
              <a:t>веб-интерфейс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Сопоставление экологической обстановки в различных населённых пунктах и регионах.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499"/>
              </a:spcAft>
            </a:pPr>
            <a:r>
              <a:rPr b="1" lang="en-US" sz="2000" spc="-1" strike="noStrike">
                <a:solidFill>
                  <a:srgbClr val="1e293b"/>
                </a:solidFill>
                <a:latin typeface="Calibri"/>
              </a:rPr>
              <a:t>Области применения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Поддержка </a:t>
            </a:r>
            <a:r>
              <a:rPr b="0" lang="en-US" sz="1600" spc="-1" strike="noStrike" u="sng">
                <a:solidFill>
                  <a:srgbClr val="1e293b"/>
                </a:solidFill>
                <a:uFillTx/>
                <a:latin typeface="Calibri"/>
              </a:rPr>
              <a:t>экологического просвещения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и наглядной интерпретации категорий качества воздуха.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Использование в качестве основы для систем </a:t>
            </a:r>
            <a:r>
              <a:rPr b="0" lang="en-US" sz="1600" spc="-1" strike="noStrike" u="sng">
                <a:solidFill>
                  <a:srgbClr val="1e293b"/>
                </a:solidFill>
                <a:uFillTx/>
                <a:latin typeface="Calibri"/>
              </a:rPr>
              <a:t>мониторинга и оповещения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 при интеграции с актуальными официальными источниками данных.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Calibri"/>
              </a:rPr>
              <a:t>Планирование мероприятий на открытом воздухе с учётом сезонных факторов.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2154960" y="320040"/>
            <a:ext cx="7854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Исследование и подготовка данных (1/2)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itle 2"/>
          <p:cNvSpPr/>
          <p:nvPr/>
        </p:nvSpPr>
        <p:spPr>
          <a:xfrm>
            <a:off x="1553040" y="2971800"/>
            <a:ext cx="934704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ubtitle 1"/>
          <p:cNvSpPr/>
          <p:nvPr/>
        </p:nvSpPr>
        <p:spPr>
          <a:xfrm>
            <a:off x="1553040" y="3934800"/>
            <a:ext cx="9347040" cy="28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505080" y="1139040"/>
            <a:ext cx="10924920" cy="5329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 u="sng">
                <a:solidFill>
                  <a:srgbClr val="000000"/>
                </a:solidFill>
                <a:uFillTx/>
                <a:latin typeface="Arial"/>
              </a:rPr>
              <a:t>Целевые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показатели модели — классические критерии качества воздуха (PM2.5, PM10, NO₂, SO₂, O₃) + AQI.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Исследование данных: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Объём: 331 920 записей · 24 страны, 2 305 профилей «город+страна» · период 2014–2025 (144 месяца).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Распределения </a:t>
            </a:r>
            <a:r>
              <a:rPr b="0" lang="en-US" sz="2000" spc="-1" strike="noStrike" u="sng">
                <a:solidFill>
                  <a:srgbClr val="000000"/>
                </a:solidFill>
                <a:uFillTx/>
                <a:latin typeface="Arial"/>
              </a:rPr>
              <a:t>асимметричны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по целевым показателям;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средний AQI по странам различается в ~5 раз (например, ~35 в Australia и ~187 в Pakistan).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Пик автокорреляции на </a:t>
            </a:r>
            <a:r>
              <a:rPr b="0" lang="en-US" sz="2000" spc="-1" strike="noStrike" u="sng">
                <a:solidFill>
                  <a:srgbClr val="000000"/>
                </a:solidFill>
                <a:uFillTx/>
                <a:latin typeface="Arial"/>
              </a:rPr>
              <a:t>лаге 12 месяцев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Подготовка данных: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Кластеризация k=8, KernelPCA+KMeans, метрика — снижение взвешенного σ(AQI):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σ(AQI) снижается с ~61 до ~41 (~32%)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1" descr="slide_etapy_variant4.png"/>
          <p:cNvPicPr/>
          <p:nvPr/>
        </p:nvPicPr>
        <p:blipFill>
          <a:blip r:embed="rId1"/>
          <a:stretch/>
        </p:blipFill>
        <p:spPr>
          <a:xfrm rot="5400">
            <a:off x="376560" y="1875600"/>
            <a:ext cx="11338920" cy="2915640"/>
          </a:xfrm>
          <a:prstGeom prst="rect">
            <a:avLst/>
          </a:prstGeom>
          <a:ln w="0">
            <a:noFill/>
          </a:ln>
        </p:spPr>
      </p:pic>
      <p:sp>
        <p:nvSpPr>
          <p:cNvPr id="63" name="Rectangle 5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15"/>
          <p:cNvSpPr/>
          <p:nvPr/>
        </p:nvSpPr>
        <p:spPr>
          <a:xfrm>
            <a:off x="2154960" y="320040"/>
            <a:ext cx="7854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Иссл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едов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ание 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и 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подг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отов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ка 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данн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ых </a:t>
            </a: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(2/2)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itle 1"/>
          <p:cNvSpPr/>
          <p:nvPr/>
        </p:nvSpPr>
        <p:spPr>
          <a:xfrm>
            <a:off x="1553040" y="2971800"/>
            <a:ext cx="934704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ubtitle 2"/>
          <p:cNvSpPr/>
          <p:nvPr/>
        </p:nvSpPr>
        <p:spPr>
          <a:xfrm>
            <a:off x="1553040" y="3934800"/>
            <a:ext cx="9347040" cy="28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7"/>
          <p:cNvSpPr/>
          <p:nvPr/>
        </p:nvSpPr>
        <p:spPr>
          <a:xfrm>
            <a:off x="4285800" y="1025280"/>
            <a:ext cx="3358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Этапы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формиро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вания 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моделей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19"/>
          <p:cNvSpPr/>
          <p:nvPr/>
        </p:nvSpPr>
        <p:spPr>
          <a:xfrm>
            <a:off x="685800" y="5340600"/>
            <a:ext cx="10284840" cy="11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Последовате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льность: </a:t>
            </a:r>
            <a:br>
              <a:rPr sz="1100"/>
            </a:b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панель 2 305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локаций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(страна ·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штат ·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город) →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профиль →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кластеризаци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я (8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кластеров) →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усреднённый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помесячный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ряд на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каждый </a:t>
            </a:r>
            <a:r>
              <a:rPr b="0" i="1" lang="en-US" sz="1100" spc="-1" strike="noStrike">
                <a:solidFill>
                  <a:srgbClr val="000000"/>
                </a:solidFill>
                <a:latin typeface="Calibri"/>
              </a:rPr>
              <a:t>кластер.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Драйвер —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фоновый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показатель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среды и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активности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локации: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средние за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историю по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ветру,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влажности,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выбросам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CO₂,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плотности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населения,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обезлесению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и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промышленн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ому росту;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Calibri"/>
              </a:rPr>
              <a:t>участвует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только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Calibri"/>
              </a:rPr>
              <a:t>в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Calibri"/>
              </a:rPr>
              <a:t>кластеризаци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Calibri"/>
              </a:rPr>
              <a:t>и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, в прогноз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не входит.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9"/>
          <p:cNvSpPr/>
          <p:nvPr/>
        </p:nvSpPr>
        <p:spPr>
          <a:xfrm>
            <a:off x="502920" y="914400"/>
            <a:ext cx="1105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Кластеризация: KernelPCA — 3 компоненты (RBF); k-means — 8 кластеров.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4553640" y="320040"/>
            <a:ext cx="3049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Кластеризация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Picture 67" descr="image.png"/>
          <p:cNvPicPr/>
          <p:nvPr/>
        </p:nvPicPr>
        <p:blipFill>
          <a:blip r:embed="rId1"/>
          <a:stretch/>
        </p:blipFill>
        <p:spPr>
          <a:xfrm>
            <a:off x="667800" y="1371600"/>
            <a:ext cx="4359600" cy="341280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68" descr="image.png"/>
          <p:cNvPicPr/>
          <p:nvPr/>
        </p:nvPicPr>
        <p:blipFill>
          <a:blip r:embed="rId2"/>
          <a:stretch/>
        </p:blipFill>
        <p:spPr>
          <a:xfrm>
            <a:off x="5468400" y="1371600"/>
            <a:ext cx="4359600" cy="3427200"/>
          </a:xfrm>
          <a:prstGeom prst="rect">
            <a:avLst/>
          </a:prstGeom>
          <a:ln w="0">
            <a:noFill/>
          </a:ln>
        </p:spPr>
      </p:pic>
      <p:pic>
        <p:nvPicPr>
          <p:cNvPr id="74" name="Picture 69" descr="image.png"/>
          <p:cNvPicPr/>
          <p:nvPr/>
        </p:nvPicPr>
        <p:blipFill>
          <a:blip r:embed="rId3"/>
          <a:stretch/>
        </p:blipFill>
        <p:spPr>
          <a:xfrm>
            <a:off x="320400" y="5020200"/>
            <a:ext cx="4707000" cy="183600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70" descr="image.png"/>
          <p:cNvPicPr/>
          <p:nvPr/>
        </p:nvPicPr>
        <p:blipFill>
          <a:blip r:embed="rId4"/>
          <a:stretch/>
        </p:blipFill>
        <p:spPr>
          <a:xfrm>
            <a:off x="6562080" y="5042880"/>
            <a:ext cx="3930120" cy="173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3"/>
          <p:cNvSpPr/>
          <p:nvPr/>
        </p:nvSpPr>
        <p:spPr>
          <a:xfrm>
            <a:off x="502920" y="914400"/>
            <a:ext cx="11055240" cy="55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Принятые допущения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Постоянный кластер городов по полной истории 2014–2025 (144 месяца в агрегате сегмента).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Прогноз — по усреднённому ряду кластера; индивидуальный ряд города не строится.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Шаг — 1 календарный месяц; сезонный период — 12 месяцев.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Интервалы min/max — ориентировочные (≈ 2σ), не верифицированы как 95% ДИ.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Будущая погода и внешние шоки в модель не включаются.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Параметры и состав решения после кластеризации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Отбор модели внутри кластера: 5 типов (Seasonal Naive, Holt–Winters, Ridge, Gradient Boosting, WLS-Ridge);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  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подбор гиперпараметров на CV внутри типа → 5 моделей → победитель с наименьшим MAE.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         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(MAE менее чувствительна к крупным промахам, лучше баланс ошибок по 6 таргетам)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Финальный состав: 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   Holt–Winters — 5 кластеров 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   сезонная наивная — 3 кластера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  <a:ea typeface="Noto Sans CJK SC"/>
              </a:rPr>
              <a:t>Временная cross-validation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Перебор гиперпараметров: 8 кластеров × (2 + 4 + 5 + 6 + (3×3)) комбинаций = 208 конфигураций;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Для каждой оцениваемой конфигурации — expanding window: 4 фолда; test = 12 мес.; train растёт от 36 мес. до 132 мес.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cv_wMAE = 0,1·MAE₁ + 0,2·MAE₂ + 0,3·MAE₃ + 0,4·MAE₄ (веса 1:2:3:4);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MAE на фолде — средняя по 6 показателям за 12 мес. test; победитель — минимальный cv_wMAE.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  <a:ea typeface="Noto Sans CJK SC"/>
              </a:rPr>
              <a:t>Финальная модель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Noto Sans CJK SC"/>
              </a:rPr>
              <a:t>После отбора победитель (тип + гиперпараметры) переобучается на полной истории кластера; прогноз сервиса — 1–12 мес.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1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1559520" y="320040"/>
            <a:ext cx="9038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Методология построения прогнозных моделей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1909800" y="320040"/>
            <a:ext cx="8340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Оценка качества прогнозных моделей (1/2)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457200" y="4363560"/>
            <a:ext cx="8456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Показатели: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MAE — основной критерий отбора (взвешенное среднее по 6 показателям и 4 фолдам CV).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MAPE — относительная ошибка на тесте (12 мес.).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 rot="5400">
            <a:off x="483480" y="5401440"/>
            <a:ext cx="46224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Noto Sans CJK SC"/>
              </a:rPr>
              <a:t>*MAE — MAE на тесте (12 мес.); отбор — cv_wMAE на CV.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Noto Sans CJK SC"/>
              </a:rPr>
              <a:t>Гиперпараметры: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Noto Sans CJK SC"/>
              </a:rPr>
              <a:t>Holt–Winters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Noto Sans CJK SC"/>
              </a:rPr>
              <a:t> — тренд +/×, сез. +/×; SN — lag 12.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Table 68"/>
          <p:cNvGraphicFramePr/>
          <p:nvPr/>
        </p:nvGraphicFramePr>
        <p:xfrm>
          <a:off x="457200" y="960120"/>
          <a:ext cx="11201040" cy="3154680"/>
        </p:xfrm>
        <a:graphic>
          <a:graphicData uri="http://schemas.openxmlformats.org/drawingml/2006/table">
            <a:tbl>
              <a:tblPr/>
              <a:tblGrid>
                <a:gridCol w="1155960"/>
                <a:gridCol w="1841400"/>
                <a:gridCol w="2210040"/>
                <a:gridCol w="1316880"/>
                <a:gridCol w="1124280"/>
                <a:gridCol w="1750680"/>
                <a:gridCol w="1802160"/>
              </a:tblGrid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Кластер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Модель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Гиперпараметры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MAE*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MAPE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ср.AQI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Городов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4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Holt–Winters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без тренда, сез.+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0,52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1,9%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66,5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286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4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Сез. наивн.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lag 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1,67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2,3%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151,6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457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4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Сез. наивн.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lag 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0,34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1,5%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55,2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630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4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Holt–Winters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тренд+, сез.×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1,84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2,5%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126,9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146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4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Holt–Winters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тренд+, сез.×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0,95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3,3%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58,0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4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Holt–Winters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тренд+, сез.+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0,97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2,3%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76,9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323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4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Сез. наивн.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lag 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0,97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3,0%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62,0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196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2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Holt–Winters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тренд+, сез.+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1,12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2,9%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86,8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127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4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1909800" y="320040"/>
            <a:ext cx="8340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Оценка качества прогнозных моделей (2/2)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4"/>
          <p:cNvSpPr/>
          <p:nvPr/>
        </p:nvSpPr>
        <p:spPr>
          <a:xfrm>
            <a:off x="457200" y="1006200"/>
            <a:ext cx="8456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Ключевые результаты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Кластер 2: минимальный MAPE 1,5 %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Noto Sans CJK SC"/>
              </a:rPr>
              <a:t>Кластер 4: максимальный MAPE 3,3 %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cluster_2_holdout_forward" descr="cluster_2_aqi_holdout_forward.png"/>
          <p:cNvPicPr/>
          <p:nvPr/>
        </p:nvPicPr>
        <p:blipFill>
          <a:blip r:embed="rId1"/>
          <a:stretch/>
        </p:blipFill>
        <p:spPr>
          <a:xfrm>
            <a:off x="365760" y="1664280"/>
            <a:ext cx="7342200" cy="1482120"/>
          </a:xfrm>
          <a:prstGeom prst="rect">
            <a:avLst/>
          </a:prstGeom>
          <a:ln w="0">
            <a:noFill/>
          </a:ln>
        </p:spPr>
      </p:pic>
      <p:pic>
        <p:nvPicPr>
          <p:cNvPr id="88" name="cluster_4_holdout_forward" descr="cluster_4_aqi_holdout_forward.png"/>
          <p:cNvPicPr/>
          <p:nvPr/>
        </p:nvPicPr>
        <p:blipFill>
          <a:blip r:embed="rId2"/>
          <a:stretch/>
        </p:blipFill>
        <p:spPr>
          <a:xfrm>
            <a:off x="365760" y="3219840"/>
            <a:ext cx="7342200" cy="1482120"/>
          </a:xfrm>
          <a:prstGeom prst="rect">
            <a:avLst/>
          </a:prstGeom>
          <a:ln w="0">
            <a:noFill/>
          </a:ln>
        </p:spPr>
      </p:pic>
      <p:pic>
        <p:nvPicPr>
          <p:cNvPr id="89" name="global_holdout_forward" descr="global_aqi_holdout_forward.png"/>
          <p:cNvPicPr/>
          <p:nvPr/>
        </p:nvPicPr>
        <p:blipFill>
          <a:blip r:embed="rId3"/>
          <a:stretch/>
        </p:blipFill>
        <p:spPr>
          <a:xfrm>
            <a:off x="365760" y="4775760"/>
            <a:ext cx="7342200" cy="14821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90" name="g5_metrics_table"/>
          <p:cNvGraphicFramePr/>
          <p:nvPr/>
        </p:nvGraphicFramePr>
        <p:xfrm>
          <a:off x="7818120" y="1664280"/>
          <a:ext cx="3977280" cy="461736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</a:tblGrid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σ AQI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MAPE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 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23.6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1.93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 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90.2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2.33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 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24.5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1.57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 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38.5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2.46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 4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24.5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3.29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 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31.1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2.37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 6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34.9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2.95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Кластер 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41.9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2.86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Глобально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60.7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1.78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2337840" y="320040"/>
            <a:ext cx="7484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Архитектура программного комплекса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1225080" y="868680"/>
            <a:ext cx="2852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64748b"/>
                </a:solidFill>
                <a:latin typeface="Calibri"/>
              </a:rPr>
              <a:t>Контур обучения (offline)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4"/>
          <p:cNvSpPr/>
          <p:nvPr/>
        </p:nvSpPr>
        <p:spPr>
          <a:xfrm>
            <a:off x="365760" y="1179000"/>
            <a:ext cx="1545480" cy="63108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Исходные данные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(Kaggle, локально)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5"/>
          <p:cNvSpPr/>
          <p:nvPr/>
        </p:nvSpPr>
        <p:spPr>
          <a:xfrm>
            <a:off x="2148840" y="1179000"/>
            <a:ext cx="1682640" cy="6310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Аналитический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модуль (EDA)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6"/>
          <p:cNvSpPr/>
          <p:nvPr/>
        </p:nvSpPr>
        <p:spPr>
          <a:xfrm>
            <a:off x="4069080" y="1179000"/>
            <a:ext cx="1408320" cy="6310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Модуль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обучения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ounded Rectangle 7"/>
          <p:cNvSpPr/>
          <p:nvPr/>
        </p:nvSpPr>
        <p:spPr>
          <a:xfrm>
            <a:off x="5715000" y="1179000"/>
            <a:ext cx="1865520" cy="63108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</a:rPr>
              <a:t>Хранилище</a:t>
            </a:r>
            <a:br>
              <a:rPr sz="1000"/>
            </a:br>
            <a:r>
              <a:rPr b="1" lang="en-US" sz="1100" spc="-1" strike="noStrike">
                <a:solidFill>
                  <a:srgbClr val="1e293b"/>
                </a:solidFill>
                <a:latin typeface="Calibri"/>
              </a:rPr>
              <a:t>моделей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" name="Connector 8"/>
          <p:cNvCxnSpPr/>
          <p:nvPr/>
        </p:nvCxnSpPr>
        <p:spPr>
          <a:xfrm>
            <a:off x="1920240" y="1499040"/>
            <a:ext cx="209880" cy="900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cxnSp>
        <p:nvCxnSpPr>
          <p:cNvPr id="99" name="Connector 9"/>
          <p:cNvCxnSpPr/>
          <p:nvPr/>
        </p:nvCxnSpPr>
        <p:spPr>
          <a:xfrm>
            <a:off x="3837600" y="1499040"/>
            <a:ext cx="209880" cy="900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cxnSp>
        <p:nvCxnSpPr>
          <p:cNvPr id="100" name="Connector 10"/>
          <p:cNvCxnSpPr/>
          <p:nvPr/>
        </p:nvCxnSpPr>
        <p:spPr>
          <a:xfrm>
            <a:off x="5486400" y="1499040"/>
            <a:ext cx="209880" cy="900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sp>
        <p:nvSpPr>
          <p:cNvPr id="101" name="TextBox 11"/>
          <p:cNvSpPr/>
          <p:nvPr/>
        </p:nvSpPr>
        <p:spPr>
          <a:xfrm>
            <a:off x="999360" y="1965960"/>
            <a:ext cx="3303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64748b"/>
                </a:solidFill>
                <a:latin typeface="Calibri"/>
              </a:rPr>
              <a:t>Контур эксплуатации (online)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12"/>
          <p:cNvSpPr/>
          <p:nvPr/>
        </p:nvSpPr>
        <p:spPr>
          <a:xfrm>
            <a:off x="365760" y="2276280"/>
            <a:ext cx="2048400" cy="768240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Клиентское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приложение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(Streamlit)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13"/>
          <p:cNvSpPr/>
          <p:nvPr/>
        </p:nvSpPr>
        <p:spPr>
          <a:xfrm>
            <a:off x="2743200" y="2276280"/>
            <a:ext cx="2231280" cy="768240"/>
          </a:xfrm>
          <a:prstGeom prst="roundRect">
            <a:avLst>
              <a:gd name="adj" fmla="val 16667"/>
            </a:avLst>
          </a:prstGeom>
          <a:solidFill>
            <a:srgbClr val="ffe4e6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</a:rPr>
              <a:t>Сервер приложений</a:t>
            </a:r>
            <a:br>
              <a:rPr sz="1000"/>
            </a:br>
            <a:r>
              <a:rPr b="1" lang="en-US" sz="1100" spc="-1" strike="noStrike">
                <a:solidFill>
                  <a:srgbClr val="1e293b"/>
                </a:solidFill>
                <a:latin typeface="Calibri"/>
              </a:rPr>
              <a:t>(FastAPI)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14"/>
          <p:cNvSpPr/>
          <p:nvPr/>
        </p:nvSpPr>
        <p:spPr>
          <a:xfrm>
            <a:off x="5257800" y="2276280"/>
            <a:ext cx="1865520" cy="7682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Хранилище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моделей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5" name="Connector 15"/>
          <p:cNvCxnSpPr/>
          <p:nvPr/>
        </p:nvCxnSpPr>
        <p:spPr>
          <a:xfrm>
            <a:off x="2423160" y="2660040"/>
            <a:ext cx="329040" cy="900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cxnSp>
        <p:nvCxnSpPr>
          <p:cNvPr id="106" name="Connector 16"/>
          <p:cNvCxnSpPr/>
          <p:nvPr/>
        </p:nvCxnSpPr>
        <p:spPr>
          <a:xfrm>
            <a:off x="4983480" y="2660040"/>
            <a:ext cx="283320" cy="900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cxnSp>
        <p:nvCxnSpPr>
          <p:cNvPr id="107" name="Connector 17"/>
          <p:cNvCxnSpPr/>
          <p:nvPr/>
        </p:nvCxnSpPr>
        <p:spPr>
          <a:xfrm>
            <a:off x="6647400" y="1819080"/>
            <a:ext cx="9000" cy="46620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sp>
        <p:nvSpPr>
          <p:cNvPr id="108" name="TextBox 18"/>
          <p:cNvSpPr/>
          <p:nvPr/>
        </p:nvSpPr>
        <p:spPr>
          <a:xfrm>
            <a:off x="502920" y="3246120"/>
            <a:ext cx="11055240" cy="20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Backend — FastAPI; predictor/forecasting/ — inference endpoint;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Frontend — Streamlit;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docker-compose — развёртывание API и UI.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Принцип функционирования: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Обучение offline: KernelPCA+KMeans (8 кластеров) → подбор гиперпараметров и типа модели по CV → сохранение .joblib.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Эксплуатация online: API загружает артефакт кластера и строит прогноз без дообучения;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1465920" y="320040"/>
            <a:ext cx="9227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Программный интерфейс серверной части (API)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502920" y="914400"/>
            <a:ext cx="5660280" cy="22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Справочные методы (GET)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/meta/countries/ — перечень доступных стран;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/meta/cities/?country= — перечень городов в указанной стране;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/meta/pollutants/ — перечень прогнозируемых загрязнителей;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/meta/aqi-buckets/ — шкала категорий качества воздуха;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/meta/models/ — перечень типов прогнозных моделей.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Основной метод прогнозирования (POST)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/forecast/ — страна, город, показатели (все или один), горизонт 1–12 месяцев.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Ответ: cluster_id, тип и название модели, помесячные value/min/max по AQI и загрязнителям, aqi_bucket;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метаданные коридора (const или √h) и группа остатков A/B (постоянный / меняющийся разброс по истории кластера).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6309360" y="1051560"/>
            <a:ext cx="1911240" cy="539640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Пользовательский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интерфейс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8549640" y="1051560"/>
            <a:ext cx="2139840" cy="539640"/>
          </a:xfrm>
          <a:prstGeom prst="roundRect">
            <a:avLst>
              <a:gd name="adj" fmla="val 16667"/>
            </a:avLst>
          </a:prstGeom>
          <a:solidFill>
            <a:srgbClr val="ffe4e6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Запрос справочников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(GET /meta/...)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6"/>
          <p:cNvSpPr/>
          <p:nvPr/>
        </p:nvSpPr>
        <p:spPr>
          <a:xfrm>
            <a:off x="8549640" y="1965960"/>
            <a:ext cx="2139840" cy="539640"/>
          </a:xfrm>
          <a:prstGeom prst="roundRect">
            <a:avLst>
              <a:gd name="adj" fmla="val 16667"/>
            </a:avLst>
          </a:prstGeom>
          <a:solidFill>
            <a:srgbClr val="ffe4e6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</a:rPr>
              <a:t>Запрос прогноза</a:t>
            </a:r>
            <a:br>
              <a:rPr sz="1000"/>
            </a:br>
            <a:r>
              <a:rPr b="1" lang="en-US" sz="1100" spc="-1" strike="noStrike">
                <a:solidFill>
                  <a:srgbClr val="1e293b"/>
                </a:solidFill>
                <a:latin typeface="Calibri"/>
              </a:rPr>
              <a:t>(POST /forecast/)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7"/>
          <p:cNvSpPr/>
          <p:nvPr/>
        </p:nvSpPr>
        <p:spPr>
          <a:xfrm>
            <a:off x="8549640" y="2880360"/>
            <a:ext cx="2139840" cy="539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Определение сегмента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и модели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8"/>
          <p:cNvSpPr/>
          <p:nvPr/>
        </p:nvSpPr>
        <p:spPr>
          <a:xfrm>
            <a:off x="6309360" y="2880360"/>
            <a:ext cx="1911240" cy="5396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Отображение</a:t>
            </a:r>
            <a:br>
              <a:rPr sz="10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результата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7" name="Connector 9"/>
          <p:cNvCxnSpPr/>
          <p:nvPr/>
        </p:nvCxnSpPr>
        <p:spPr>
          <a:xfrm>
            <a:off x="8229600" y="1325880"/>
            <a:ext cx="329040" cy="900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cxnSp>
        <p:nvCxnSpPr>
          <p:cNvPr id="118" name="Connector 10"/>
          <p:cNvCxnSpPr/>
          <p:nvPr/>
        </p:nvCxnSpPr>
        <p:spPr>
          <a:xfrm>
            <a:off x="9619200" y="1600200"/>
            <a:ext cx="9000" cy="37476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cxnSp>
        <p:nvCxnSpPr>
          <p:cNvPr id="119" name="Connector 11"/>
          <p:cNvCxnSpPr/>
          <p:nvPr/>
        </p:nvCxnSpPr>
        <p:spPr>
          <a:xfrm>
            <a:off x="9619200" y="2514600"/>
            <a:ext cx="9000" cy="37476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cxnSp>
        <p:nvCxnSpPr>
          <p:cNvPr id="120" name="Connector 12"/>
          <p:cNvCxnSpPr/>
          <p:nvPr/>
        </p:nvCxnSpPr>
        <p:spPr>
          <a:xfrm flipH="1">
            <a:off x="8229600" y="3154680"/>
            <a:ext cx="329040" cy="9000"/>
          </a:xfrm>
          <a:prstGeom prst="straightConnector1">
            <a:avLst/>
          </a:prstGeom>
          <a:ln w="19050">
            <a:solidFill>
              <a:srgbClr val="64748b"/>
            </a:solidFill>
            <a:round/>
          </a:ln>
        </p:spPr>
      </p:cxnSp>
      <p:sp>
        <p:nvSpPr>
          <p:cNvPr id="121" name="TextBox 13"/>
          <p:cNvSpPr/>
          <p:nvPr/>
        </p:nvSpPr>
        <p:spPr>
          <a:xfrm>
            <a:off x="6309360" y="3657600"/>
            <a:ext cx="529452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Типовой сценарий взаимодействия: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1. Получение перечня стран и городов.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2. Формирование запроса прогноза с указанием горизонта.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3. Визуализация помесячных результатов в интерфейсе.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Коды ответов: 200 — успешный ответ (GET /meta/*, POST /forecast/); 404 — объект не найден; 503 — модели недоступны.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82760" cy="10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4246560" y="320040"/>
            <a:ext cx="3666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93b"/>
                </a:solidFill>
                <a:latin typeface="Calibri"/>
              </a:rPr>
              <a:t>Основные выводы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502920" y="914400"/>
            <a:ext cx="11055240" cy="38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Результаты проекта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Проведён предварительное </a:t>
            </a:r>
            <a:r>
              <a:rPr b="0" lang="en-US" sz="1400" spc="-1" strike="noStrike" u="sng">
                <a:solidFill>
                  <a:srgbClr val="1e293b"/>
                </a:solidFill>
                <a:uFillTx/>
                <a:latin typeface="Calibri"/>
              </a:rPr>
              <a:t>исследование исходных данных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: выявлены пространственные и сезонные различия уровня загрязнения.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Реализована </a:t>
            </a:r>
            <a:r>
              <a:rPr b="0" lang="en-US" sz="1400" spc="-1" strike="noStrike" u="sng">
                <a:solidFill>
                  <a:srgbClr val="1e293b"/>
                </a:solidFill>
                <a:uFillTx/>
                <a:latin typeface="Calibri"/>
              </a:rPr>
              <a:t>кластеризация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 городов по сходным экологическим характеристикам.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Разработан </a:t>
            </a:r>
            <a:r>
              <a:rPr b="0" lang="en-US" sz="1400" spc="-1" strike="noStrike" u="sng">
                <a:solidFill>
                  <a:srgbClr val="1e293b"/>
                </a:solidFill>
                <a:uFillTx/>
                <a:latin typeface="Calibri"/>
              </a:rPr>
              <a:t>сервис прогнозирования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 качества воздуха с выбором страны и города и горизонтом прогноза до двенадцати месяцев.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Потенциальные улучшения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API для прогноза на </a:t>
            </a:r>
            <a:r>
              <a:rPr b="0" lang="en-US" sz="1400" spc="-1" strike="noStrike" u="sng">
                <a:solidFill>
                  <a:srgbClr val="1e293b"/>
                </a:solidFill>
                <a:uFillTx/>
                <a:latin typeface="Calibri"/>
              </a:rPr>
              <a:t>новом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 городе, неизвестном для моделей.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Доработать прогноз для кластера 1: у него наибольшая шумность данных (σ AQI ≈ 90, выше глобального уровня).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499"/>
              </a:spcAft>
            </a:pPr>
            <a:r>
              <a:rPr b="1" lang="en-US" sz="1600" spc="-1" strike="noStrike">
                <a:solidFill>
                  <a:srgbClr val="1e293b"/>
                </a:solidFill>
                <a:latin typeface="Calibri"/>
              </a:rPr>
              <a:t>Ограничения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Результаты носят </a:t>
            </a:r>
            <a:r>
              <a:rPr b="0" lang="en-US" sz="1400" spc="-1" strike="noStrike" u="sng">
                <a:solidFill>
                  <a:srgbClr val="1e293b"/>
                </a:solidFill>
                <a:uFillTx/>
                <a:latin typeface="Calibri"/>
              </a:rPr>
              <a:t>оценочный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 характер и не заменяют данные мониторинга.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Прогноз отражает </a:t>
            </a:r>
            <a:r>
              <a:rPr b="0" lang="en-US" sz="1400" spc="-1" strike="noStrike" u="sng">
                <a:solidFill>
                  <a:srgbClr val="1e293b"/>
                </a:solidFill>
                <a:uFillTx/>
                <a:latin typeface="Calibri"/>
              </a:rPr>
              <a:t>усреднённую</a:t>
            </a:r>
            <a:r>
              <a:rPr b="0" lang="en-US" sz="1400" spc="-1" strike="noStrike">
                <a:solidFill>
                  <a:srgbClr val="1e293b"/>
                </a:solidFill>
                <a:latin typeface="Calibri"/>
              </a:rPr>
              <a:t> картину по кластерам; локальные отклонения в отдельных регионах возможны.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2026-06-10T12:04:08Z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